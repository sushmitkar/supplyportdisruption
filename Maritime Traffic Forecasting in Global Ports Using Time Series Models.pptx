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7" r:id="rId10"/>
    <p:sldId id="269" r:id="rId11"/>
    <p:sldId id="263" r:id="rId12"/>
    <p:sldId id="268" r:id="rId13"/>
    <p:sldId id="264" r:id="rId14"/>
    <p:sldId id="265" r:id="rId15"/>
  </p:sldIdLst>
  <p:sldSz cx="14630400" cy="8229600"/>
  <p:notesSz cx="8229600" cy="14630400"/>
  <p:embeddedFontLst>
    <p:embeddedFont>
      <p:font typeface="Lora" panose="020B0604020202020204" charset="0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Source Sans 3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2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6857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8787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861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8738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680216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Comparative Forecasting of Global Maritime Port Traffic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44722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Using Classical and Advanced Time Series Models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37724" y="5099447"/>
            <a:ext cx="5161478" cy="449818"/>
          </a:xfrm>
          <a:prstGeom prst="roundRect">
            <a:avLst>
              <a:gd name="adj" fmla="val 6386"/>
            </a:avLst>
          </a:prstGeom>
          <a:solidFill>
            <a:srgbClr val="49042A"/>
          </a:solidFill>
          <a:ln/>
        </p:spPr>
      </p:sp>
      <p:sp>
        <p:nvSpPr>
          <p:cNvPr id="6" name="Text 3"/>
          <p:cNvSpPr/>
          <p:nvPr/>
        </p:nvSpPr>
        <p:spPr>
          <a:xfrm>
            <a:off x="981313" y="5171242"/>
            <a:ext cx="487430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SUSHMIT KAR · BENNETT UNIVERSITY, GREATER NOIDA, INDIA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185505"/>
            <a:ext cx="7331869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Port Traffic Forecasting Matters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837724" y="1915478"/>
            <a:ext cx="7468553" cy="754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Global seaports are critical nodes in international trade. Delays and poor planning cascade across logistics networks. Accurate short-term forecasting of vessel arrivals enables authorities to optimize operations and build supply chain resilience.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37724" y="2820948"/>
            <a:ext cx="7468553" cy="954881"/>
          </a:xfrm>
          <a:prstGeom prst="roundRect">
            <a:avLst>
              <a:gd name="adj" fmla="val 2820"/>
            </a:avLst>
          </a:prstGeom>
          <a:solidFill>
            <a:srgbClr val="444752"/>
          </a:solidFill>
          <a:ln/>
        </p:spPr>
      </p:sp>
      <p:sp>
        <p:nvSpPr>
          <p:cNvPr id="6" name="Text 3"/>
          <p:cNvSpPr/>
          <p:nvPr/>
        </p:nvSpPr>
        <p:spPr>
          <a:xfrm>
            <a:off x="1017151" y="3000375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Berth Planning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017151" y="3345061"/>
            <a:ext cx="7109698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Optimize dock allocation and scheduling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37724" y="3910370"/>
            <a:ext cx="7468553" cy="954881"/>
          </a:xfrm>
          <a:prstGeom prst="roundRect">
            <a:avLst>
              <a:gd name="adj" fmla="val 2820"/>
            </a:avLst>
          </a:prstGeom>
          <a:solidFill>
            <a:srgbClr val="444752"/>
          </a:solidFill>
          <a:ln/>
        </p:spPr>
      </p:sp>
      <p:sp>
        <p:nvSpPr>
          <p:cNvPr id="9" name="Text 6"/>
          <p:cNvSpPr/>
          <p:nvPr/>
        </p:nvSpPr>
        <p:spPr>
          <a:xfrm>
            <a:off x="1017151" y="4089797"/>
            <a:ext cx="211216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Workforce &amp; Cranes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17151" y="4434483"/>
            <a:ext cx="7109698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Align labor and equipment to demand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37724" y="4999792"/>
            <a:ext cx="7468553" cy="954881"/>
          </a:xfrm>
          <a:prstGeom prst="roundRect">
            <a:avLst>
              <a:gd name="adj" fmla="val 2820"/>
            </a:avLst>
          </a:prstGeom>
          <a:solidFill>
            <a:srgbClr val="444752"/>
          </a:solidFill>
          <a:ln/>
        </p:spPr>
      </p:sp>
      <p:sp>
        <p:nvSpPr>
          <p:cNvPr id="12" name="Text 9"/>
          <p:cNvSpPr/>
          <p:nvPr/>
        </p:nvSpPr>
        <p:spPr>
          <a:xfrm>
            <a:off x="1017151" y="5179219"/>
            <a:ext cx="2189559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Congestion Mitigation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017151" y="5523905"/>
            <a:ext cx="7109698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Preempt bottlenecks before they form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37724" y="6089213"/>
            <a:ext cx="7468553" cy="954881"/>
          </a:xfrm>
          <a:prstGeom prst="roundRect">
            <a:avLst>
              <a:gd name="adj" fmla="val 2820"/>
            </a:avLst>
          </a:prstGeom>
          <a:solidFill>
            <a:srgbClr val="444752"/>
          </a:solidFill>
          <a:ln/>
        </p:spPr>
      </p:sp>
      <p:sp>
        <p:nvSpPr>
          <p:cNvPr id="15" name="Text 12"/>
          <p:cNvSpPr/>
          <p:nvPr/>
        </p:nvSpPr>
        <p:spPr>
          <a:xfrm>
            <a:off x="1017151" y="6268641"/>
            <a:ext cx="2333268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Supply Chain Resilience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017151" y="6613327"/>
            <a:ext cx="7109698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 inland transport coordination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151334"/>
            <a:ext cx="9295209" cy="668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Forecasting Models Under Evaluation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37724" y="2252186"/>
            <a:ext cx="12954952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Five paradigms are benchmarked across </a:t>
            </a:r>
            <a:r>
              <a:rPr lang="en-US" sz="1750" b="1" dirty="0" smtClean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</a:t>
            </a:r>
            <a:r>
              <a:rPr lang="en-US" sz="1750" b="1" dirty="0" smtClean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7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international ports</a:t>
            </a: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using daily vessel call data from 2019–2026.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837724" y="3574733"/>
            <a:ext cx="267533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ARIMA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837724" y="4038600"/>
            <a:ext cx="4138255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Classical autoregressive model; benchmark for linear, stationary series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5246013" y="3574733"/>
            <a:ext cx="267533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Holt-Winters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5246013" y="4038600"/>
            <a:ext cx="4138255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Exponential smoothing for level, trend, and seasonal decomposition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9654302" y="3574733"/>
            <a:ext cx="267533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VAR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9654302" y="4038600"/>
            <a:ext cx="4138374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Multivariate model capturing joint dependencies across regional port clusters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837724" y="5904905"/>
            <a:ext cx="267533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Prophet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837724" y="6368772"/>
            <a:ext cx="4138255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Additive model with automatic trend shifts and multi-seasonality handling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5246013" y="5904905"/>
            <a:ext cx="267533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XGBoost</a:t>
            </a:r>
            <a:endParaRPr lang="en-US" sz="2100" dirty="0"/>
          </a:p>
        </p:txBody>
      </p:sp>
      <p:sp>
        <p:nvSpPr>
          <p:cNvPr id="18" name="Text 11"/>
          <p:cNvSpPr/>
          <p:nvPr/>
        </p:nvSpPr>
        <p:spPr>
          <a:xfrm>
            <a:off x="5246013" y="6368772"/>
            <a:ext cx="4138255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Gradient boosting with lag features, rolling means, and calendar effects</a:t>
            </a:r>
            <a:endParaRPr lang="en-US" sz="175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4984" y="7632147"/>
            <a:ext cx="1924319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82003"/>
            <a:ext cx="6913840" cy="59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&amp; Exploratory Findings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557463"/>
            <a:ext cx="7009924" cy="39722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88579" y="1812607"/>
            <a:ext cx="3039785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Ports Analyzed (2019–2026)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588579" y="2284690"/>
            <a:ext cx="4211598" cy="155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Singapore, Shanghai, Rotterdam, Antwerp, Busan, Hong Kong, Ningbo, </a:t>
            </a:r>
            <a:r>
              <a:rPr lang="en-US" sz="1600" dirty="0" smtClean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Nagoya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Kobe, Yokohama, Chiba, </a:t>
            </a:r>
            <a:r>
              <a:rPr lang="en-US" sz="1600" dirty="0" err="1" smtClean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Mizushima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IN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Sakai-</a:t>
            </a:r>
            <a:r>
              <a:rPr lang="en-IN" sz="1600" dirty="0" err="1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Semboku</a:t>
            </a:r>
            <a:r>
              <a:rPr lang="en-IN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Guangzhou, </a:t>
            </a:r>
            <a:r>
              <a:rPr lang="en-IN" sz="1600" dirty="0" err="1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Gwangyang</a:t>
            </a:r>
            <a:r>
              <a:rPr lang="en-IN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Kaohsiung, Ulsan, Tianjin, Qingdao, Port </a:t>
            </a:r>
            <a:r>
              <a:rPr lang="en-IN" sz="1600" dirty="0" err="1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Klang</a:t>
            </a:r>
            <a:endParaRPr lang="en-US" sz="1600" dirty="0">
              <a:solidFill>
                <a:srgbClr val="D6E5EF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588579" y="3961209"/>
            <a:ext cx="2739033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Exploratory Insights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588579" y="4377144"/>
            <a:ext cx="4211598" cy="3253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Singapore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highest volume, relatively stable traffic</a:t>
            </a:r>
            <a:endParaRPr lang="en-US" sz="16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Shanghai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higher volatility with episodic declines</a:t>
            </a:r>
            <a:endParaRPr lang="en-US" sz="16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Rotterdam &amp; Antwerp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steady European patterns</a:t>
            </a:r>
            <a:endParaRPr lang="en-US" sz="16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Clear </a:t>
            </a: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weekly seasonality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across several ports</a:t>
            </a:r>
            <a:endParaRPr lang="en-US" sz="160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Anomalies linked to </a:t>
            </a: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COVID-19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Suez blockage</a:t>
            </a:r>
            <a:r>
              <a:rPr lang="en-US" sz="16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and </a:t>
            </a:r>
            <a:r>
              <a:rPr lang="en-US" sz="16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 Sea disruptions</a:t>
            </a:r>
            <a:endParaRPr lang="en-US" sz="16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4984" y="7632147"/>
            <a:ext cx="1924319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7443" y="397193"/>
            <a:ext cx="6572964" cy="418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Methodology: From Raw Data to Forecasts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091" y="983933"/>
            <a:ext cx="12408218" cy="6572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09670" y="5681104"/>
            <a:ext cx="2887289" cy="36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Preprocessing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2610836" y="6150885"/>
            <a:ext cx="3286124" cy="733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Parse dates, handle missing values, align daily series, split train-test.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809757" y="1655688"/>
            <a:ext cx="2887289" cy="36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00"/>
              </a:lnSpc>
              <a:buNone/>
            </a:pPr>
            <a:r>
              <a:rPr lang="en-US" sz="2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Feature Engineering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1410923" y="2125469"/>
            <a:ext cx="3286124" cy="733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 lag-1 and lag-7, rolling means, calendar and regional leader lags.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774022" y="1655688"/>
            <a:ext cx="2887290" cy="36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 Training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8774022" y="2125469"/>
            <a:ext cx="3286124" cy="733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Fit ARIMA, Holt-Winters, VAR, Prophet and XGBoost with stationarity checks.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933028" y="5681317"/>
            <a:ext cx="2887289" cy="36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Evaluation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9933028" y="6151098"/>
            <a:ext cx="3286124" cy="733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Compare RMSE and MAPE across ports to select best forecasts.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97443" y="7651075"/>
            <a:ext cx="13635514" cy="181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Temporal order is strictly preserved in the train-test split. Stationarity checks guide ARIMA specification, while lag-based supervised features enable XGBoost to model nonlinear dependencies and disruption dynamics.</a:t>
            </a:r>
            <a:endParaRPr lang="en-US" sz="11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0317" y="7632147"/>
            <a:ext cx="1708986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90600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Evaluation Metrics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292906"/>
            <a:ext cx="435292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Root Mean Squared Error (RMSE)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2947749"/>
            <a:ext cx="6185535" cy="1028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947749"/>
            <a:ext cx="6185535" cy="10285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7724" y="4279225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Penalizes large prediction errors, making it sensitive to disruption-driven spikes in port traffic.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614761" y="2292906"/>
            <a:ext cx="528589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Mean Absolute Percentage Error (MAPE)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614761" y="2947749"/>
            <a:ext cx="6185535" cy="954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endParaRPr lang="en-US" sz="2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4761" y="2947749"/>
            <a:ext cx="6185535" cy="9544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14761" y="4205049"/>
            <a:ext cx="618553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Enables scale-independent comparison across ports with vastly different traffic volumes, from Singapore to smaller Japanese industrial hubs.</a:t>
            </a:r>
            <a:endParaRPr lang="en-US" sz="1850" dirty="0"/>
          </a:p>
        </p:txBody>
      </p:sp>
      <p:sp>
        <p:nvSpPr>
          <p:cNvPr id="11" name="Shape 7"/>
          <p:cNvSpPr/>
          <p:nvPr/>
        </p:nvSpPr>
        <p:spPr>
          <a:xfrm>
            <a:off x="837724" y="5838706"/>
            <a:ext cx="12954952" cy="1400175"/>
          </a:xfrm>
          <a:prstGeom prst="roundRect">
            <a:avLst>
              <a:gd name="adj" fmla="val 2564"/>
            </a:avLst>
          </a:prstGeom>
          <a:solidFill>
            <a:srgbClr val="022349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039" y="6187440"/>
            <a:ext cx="299204" cy="2393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15559" y="6137791"/>
            <a:ext cx="1193780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Both metrics are computed on a held-out test set, preserving temporal order to reflect real-world operational forecasting conditions.</a:t>
            </a:r>
            <a:endParaRPr lang="en-US" sz="185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20317" y="7632147"/>
            <a:ext cx="1708986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8316" y="7757119"/>
            <a:ext cx="2052084" cy="47248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741" y="969524"/>
            <a:ext cx="12696918" cy="629055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3657600" y="7351217"/>
            <a:ext cx="73152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Figure 1. MAPE comparison across all ports and forecasting models. No single model dominates all ports, supporting adaptive model selection.</a:t>
            </a:r>
            <a:endParaRPr lang="en-IN" dirty="0">
              <a:solidFill>
                <a:srgbClr val="D6E5EF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74606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637" y="414933"/>
            <a:ext cx="6945392" cy="440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Comparative Results: No Universal Winner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37" y="1100376"/>
            <a:ext cx="6609040" cy="660904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37" y="1100376"/>
            <a:ext cx="6609040" cy="6609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05343" y="3490436"/>
            <a:ext cx="4098727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Adaptive Selection Outperforms One-Size-Fits-All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505343" y="3803809"/>
            <a:ext cx="6609040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Experiments confirm that no single model dominates across all ports. Port traffic dynamics differ substantially by geography and trade function.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7505343" y="4276963"/>
            <a:ext cx="6609040" cy="1103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Prophet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strong results across seasonal ports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XGBoost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superior on volatile Japanese industrial ports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ARIMA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competitive on smoother, stable series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Holt-Winters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reliable but less adaptive to abrupt shocks</a:t>
            </a:r>
            <a:endParaRPr lang="en-US" sz="11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VAR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minimal gains </a:t>
            </a:r>
            <a:r>
              <a:rPr lang="en-US" sz="1150" dirty="0" smtClean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confirms weak co-movement but not disruption propagation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20317" y="7632147"/>
            <a:ext cx="1708986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0317" y="7632147"/>
            <a:ext cx="1708986" cy="51442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53" y="233916"/>
            <a:ext cx="12652743" cy="718760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147237" y="7421525"/>
            <a:ext cx="7772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Figure 2. Forecast vs actual vessel calls for selected ports. Models perform differently across seasonal, stable, and volatile traffic patterns.</a:t>
            </a:r>
            <a:endParaRPr lang="en-IN" dirty="0">
              <a:solidFill>
                <a:srgbClr val="D6E5EF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1112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7172" y="7645331"/>
            <a:ext cx="1794571" cy="46679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523637" y="518707"/>
            <a:ext cx="8599098" cy="440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50"/>
              </a:lnSpc>
            </a:pPr>
            <a:r>
              <a:rPr lang="en-IN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Port Disruption Contagion — The Central Finding</a:t>
            </a:r>
            <a:endParaRPr lang="en-US" sz="2750" dirty="0">
              <a:solidFill>
                <a:srgbClr val="F98AC7"/>
              </a:solidFill>
              <a:latin typeface="Lora" pitchFamily="34" charset="0"/>
              <a:ea typeface="Lora" pitchFamily="34" charset="-122"/>
              <a:cs typeface="Lora" pitchFamily="34" charset="-120"/>
            </a:endParaRPr>
          </a:p>
        </p:txBody>
      </p:sp>
      <p:sp>
        <p:nvSpPr>
          <p:cNvPr id="21" name="Text 0"/>
          <p:cNvSpPr/>
          <p:nvPr/>
        </p:nvSpPr>
        <p:spPr>
          <a:xfrm>
            <a:off x="608697" y="1641222"/>
            <a:ext cx="3325349" cy="440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50"/>
              </a:lnSpc>
            </a:pPr>
            <a:r>
              <a:rPr lang="en-IN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</a:t>
            </a:r>
            <a:r>
              <a:rPr lang="en-IN" sz="2750" dirty="0" smtClean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Main Question</a:t>
            </a:r>
            <a:endParaRPr lang="en-US" sz="2750" dirty="0">
              <a:solidFill>
                <a:srgbClr val="F98AC7"/>
              </a:solidFill>
              <a:latin typeface="Lora" pitchFamily="34" charset="0"/>
              <a:ea typeface="Lora" pitchFamily="34" charset="-122"/>
              <a:cs typeface="Lora" pitchFamily="34" charset="-12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23638" y="2363338"/>
            <a:ext cx="1293718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Does disruption at one major port propagate to </a:t>
            </a:r>
            <a:r>
              <a:rPr lang="en-US" sz="2000" dirty="0" err="1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neighbouring</a:t>
            </a:r>
            <a:r>
              <a:rPr lang="en-US" sz="2000" dirty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ports, and can this signal be measured and predicted?</a:t>
            </a:r>
            <a:endParaRPr lang="en-IN" sz="2000" dirty="0">
              <a:solidFill>
                <a:schemeClr val="bg1"/>
              </a:solidFill>
              <a:latin typeface="Lora" pitchFamily="34" charset="0"/>
              <a:ea typeface="Lora" pitchFamily="34" charset="-122"/>
              <a:cs typeface="Lora" pitchFamily="34" charset="-12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23638" y="3439452"/>
            <a:ext cx="2517274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450"/>
              </a:lnSpc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Answer</a:t>
            </a:r>
            <a:endParaRPr lang="en-IN" sz="2750" dirty="0">
              <a:solidFill>
                <a:srgbClr val="F98AC7"/>
              </a:solidFill>
              <a:latin typeface="Lora" pitchFamily="34" charset="0"/>
              <a:ea typeface="Lora" pitchFamily="34" charset="-122"/>
              <a:cs typeface="Lora" pitchFamily="34" charset="-12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23637" y="4193739"/>
            <a:ext cx="1212910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Cross-Correlation: </a:t>
            </a:r>
            <a:r>
              <a:rPr lang="en-US" sz="2400" dirty="0" smtClean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262 statistically significant port pairs found across lags 1–14 days. </a:t>
            </a:r>
            <a:r>
              <a:rPr lang="en-US" sz="2400" dirty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All top pairs concentrated in one Japanese cluster — disruption spreads regionally, not globally.</a:t>
            </a:r>
          </a:p>
          <a:p>
            <a:r>
              <a:rPr lang="en-US" sz="2400" b="1" dirty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Granger </a:t>
            </a:r>
            <a:r>
              <a:rPr lang="en-US" sz="2400" b="1" dirty="0" smtClean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Causality:  </a:t>
            </a:r>
            <a:r>
              <a:rPr lang="en-US" sz="2400" dirty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Yokohama's history significantly predicts Nagoya's future (p &lt; 0.001) at lags 1, 2 and 3 — confirming the signal is directional, not coincidental.</a:t>
            </a:r>
          </a:p>
          <a:p>
            <a:r>
              <a:rPr lang="en-US" sz="2400" b="1" dirty="0" err="1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XGBoost</a:t>
            </a:r>
            <a:r>
              <a:rPr lang="en-US" sz="2400" b="1" dirty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Feature </a:t>
            </a:r>
            <a:r>
              <a:rPr lang="en-US" sz="2400" b="1" dirty="0" smtClean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Importance: </a:t>
            </a:r>
            <a:r>
              <a:rPr lang="en-US" sz="2400" dirty="0">
                <a:solidFill>
                  <a:schemeClr val="bg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leader_lag1 ranked as the single most important feature across all 6 cluster ports — outweighing each port's own recent history.</a:t>
            </a:r>
          </a:p>
        </p:txBody>
      </p:sp>
    </p:spTree>
    <p:extLst>
      <p:ext uri="{BB962C8B-B14F-4D97-AF65-F5344CB8AC3E}">
        <p14:creationId xmlns:p14="http://schemas.microsoft.com/office/powerpoint/2010/main" val="1143594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911543"/>
            <a:ext cx="4115753" cy="457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Real-World Applications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6324124" y="1520785"/>
            <a:ext cx="7468553" cy="1373505"/>
          </a:xfrm>
          <a:prstGeom prst="roundRect">
            <a:avLst>
              <a:gd name="adj" fmla="val 1699"/>
            </a:avLst>
          </a:prstGeom>
          <a:solidFill>
            <a:srgbClr val="444752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619" y="1676281"/>
            <a:ext cx="466725" cy="46672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79619" y="2244090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Berth Allocation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6479619" y="2533412"/>
            <a:ext cx="715756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Pre-schedule dock assignments based on predicted vessel arrivals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6324124" y="2995374"/>
            <a:ext cx="7468553" cy="1373505"/>
          </a:xfrm>
          <a:prstGeom prst="roundRect">
            <a:avLst>
              <a:gd name="adj" fmla="val 1699"/>
            </a:avLst>
          </a:prstGeom>
          <a:solidFill>
            <a:srgbClr val="444752"/>
          </a:solidFill>
          <a:ln/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9619" y="3150870"/>
            <a:ext cx="466725" cy="46672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479619" y="3718679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Workforce Planning</a:t>
            </a:r>
            <a:endParaRPr lang="en-US" sz="1400" dirty="0"/>
          </a:p>
        </p:txBody>
      </p:sp>
      <p:sp>
        <p:nvSpPr>
          <p:cNvPr id="13" name="Text 6"/>
          <p:cNvSpPr/>
          <p:nvPr/>
        </p:nvSpPr>
        <p:spPr>
          <a:xfrm>
            <a:off x="6479619" y="4008001"/>
            <a:ext cx="715756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Deploy cranes and labor aligned to forecasted demand peaks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6324124" y="4469963"/>
            <a:ext cx="7468553" cy="1373505"/>
          </a:xfrm>
          <a:prstGeom prst="roundRect">
            <a:avLst>
              <a:gd name="adj" fmla="val 1699"/>
            </a:avLst>
          </a:prstGeom>
          <a:solidFill>
            <a:srgbClr val="444752"/>
          </a:solidFill>
          <a:ln/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9619" y="4625459"/>
            <a:ext cx="466725" cy="466725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479619" y="5193268"/>
            <a:ext cx="1830467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Yard Capacity</a:t>
            </a:r>
            <a:endParaRPr lang="en-US" sz="1400" dirty="0"/>
          </a:p>
        </p:txBody>
      </p:sp>
      <p:sp>
        <p:nvSpPr>
          <p:cNvPr id="18" name="Text 9"/>
          <p:cNvSpPr/>
          <p:nvPr/>
        </p:nvSpPr>
        <p:spPr>
          <a:xfrm>
            <a:off x="6479619" y="5482590"/>
            <a:ext cx="715756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Pre-position containers and manage storage before surges</a:t>
            </a:r>
            <a:endParaRPr lang="en-US" sz="1200" dirty="0"/>
          </a:p>
        </p:txBody>
      </p:sp>
      <p:sp>
        <p:nvSpPr>
          <p:cNvPr id="19" name="Shape 10"/>
          <p:cNvSpPr/>
          <p:nvPr/>
        </p:nvSpPr>
        <p:spPr>
          <a:xfrm>
            <a:off x="6324124" y="5944553"/>
            <a:ext cx="7468553" cy="1373505"/>
          </a:xfrm>
          <a:prstGeom prst="roundRect">
            <a:avLst>
              <a:gd name="adj" fmla="val 1699"/>
            </a:avLst>
          </a:prstGeom>
          <a:solidFill>
            <a:srgbClr val="444752"/>
          </a:solidFill>
          <a:ln/>
        </p:spPr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9619" y="6100048"/>
            <a:ext cx="466725" cy="466725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6479619" y="6667857"/>
            <a:ext cx="2162532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Disruption Early Warning</a:t>
            </a:r>
            <a:endParaRPr lang="en-US" sz="1400" dirty="0"/>
          </a:p>
        </p:txBody>
      </p:sp>
      <p:sp>
        <p:nvSpPr>
          <p:cNvPr id="23" name="Text 12"/>
          <p:cNvSpPr/>
          <p:nvPr/>
        </p:nvSpPr>
        <p:spPr>
          <a:xfrm>
            <a:off x="6479619" y="6957179"/>
            <a:ext cx="715756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Flag anomalies during geopolitical or weather-driven events</a:t>
            </a:r>
            <a:endParaRPr lang="en-US" sz="1200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20317" y="7632147"/>
            <a:ext cx="1708986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9070" y="7666074"/>
            <a:ext cx="1871330" cy="5635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45" y="334656"/>
            <a:ext cx="12709109" cy="677852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3540642" y="7113182"/>
            <a:ext cx="73152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Figure 3. XGBoost feature importance for Japanese cluster ports. Recent traffic (lag-1), weekly lag (lag-7), and leader-port signals were most predictive.</a:t>
            </a:r>
            <a:endParaRPr lang="en-IN" sz="2000" dirty="0">
              <a:solidFill>
                <a:srgbClr val="D6E5EF"/>
              </a:solidFill>
              <a:latin typeface="Source Sans 3" pitchFamily="34" charset="0"/>
              <a:ea typeface="Source Sans 3" pitchFamily="34" charset="-122"/>
              <a:cs typeface="Source Sans 3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21641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1390" y="563880"/>
            <a:ext cx="5012293" cy="538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Limitations of This Study</a:t>
            </a:r>
            <a:endParaRPr lang="en-US" sz="3350" dirty="0"/>
          </a:p>
        </p:txBody>
      </p:sp>
      <p:sp>
        <p:nvSpPr>
          <p:cNvPr id="3" name="Shape 1"/>
          <p:cNvSpPr/>
          <p:nvPr/>
        </p:nvSpPr>
        <p:spPr>
          <a:xfrm>
            <a:off x="641390" y="1471017"/>
            <a:ext cx="4381143" cy="1598057"/>
          </a:xfrm>
          <a:prstGeom prst="roundRect">
            <a:avLst>
              <a:gd name="adj" fmla="val 6866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30" y="1471017"/>
            <a:ext cx="91440" cy="15980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6067" y="1677114"/>
            <a:ext cx="2227064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Exogenous Drivers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16067" y="2086808"/>
            <a:ext cx="3900368" cy="776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Weather, fuel prices, and macroeconomic indicators were not incorporated as external regressors.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1390" y="3209330"/>
            <a:ext cx="4381143" cy="1339334"/>
          </a:xfrm>
          <a:prstGeom prst="roundRect">
            <a:avLst>
              <a:gd name="adj" fmla="val 8193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30" y="3209330"/>
            <a:ext cx="91440" cy="13393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6067" y="3415427"/>
            <a:ext cx="2900720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Geopolitical Unpredictability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916067" y="3825121"/>
            <a:ext cx="3900368" cy="517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Sudden disruptions (e.g., Red Sea conflict) remain inherently difficult to forecast.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1390" y="4688919"/>
            <a:ext cx="4381143" cy="1339334"/>
          </a:xfrm>
          <a:prstGeom prst="roundRect">
            <a:avLst>
              <a:gd name="adj" fmla="val 8193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30" y="4688919"/>
            <a:ext cx="91440" cy="13393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6067" y="4895017"/>
            <a:ext cx="2156103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Deep Learning Scope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916067" y="5304711"/>
            <a:ext cx="3900368" cy="517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LSTM, GRU, and Transformer models were not extensively tuned in this study.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1390" y="6168509"/>
            <a:ext cx="4381143" cy="1339334"/>
          </a:xfrm>
          <a:prstGeom prst="roundRect">
            <a:avLst>
              <a:gd name="adj" fmla="val 8193"/>
            </a:avLst>
          </a:prstGeom>
          <a:solidFill>
            <a:srgbClr val="252833"/>
          </a:solidFill>
          <a:ln w="22860">
            <a:solidFill>
              <a:srgbClr val="5D606B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30" y="6168509"/>
            <a:ext cx="91440" cy="133933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6067" y="6374606"/>
            <a:ext cx="2635687" cy="269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Long-Horizon Forecasting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916067" y="6784300"/>
            <a:ext cx="3900368" cy="517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Extended prediction windows and highly noisy operational ports were outside the present scope.</a:t>
            </a:r>
            <a:endParaRPr lang="en-US" sz="14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7113" y="2075617"/>
            <a:ext cx="8519517" cy="482762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20317" y="7632147"/>
            <a:ext cx="1708986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79527"/>
            <a:ext cx="6594991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Conclusion &amp; Future Directions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37724" y="1849160"/>
            <a:ext cx="12954952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study demonstrates that </a:t>
            </a:r>
            <a:r>
              <a:rPr lang="en-US" sz="150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adaptive model selection</a:t>
            </a: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not a universal strategy — is essential for accurate maritime port traffic forecasting. ARIMA, Prophet, and XGBoost each excel under distinct operational conditions.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572703"/>
            <a:ext cx="6477476" cy="7659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9176" y="3491746"/>
            <a:ext cx="2882622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Deep Learning Benchmarks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29176" y="3865245"/>
            <a:ext cx="609457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LSTM, GRU, and Transformer architectures for temporal modeling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572703"/>
            <a:ext cx="6477476" cy="76592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06653" y="3491746"/>
            <a:ext cx="2347912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Exogenous Regressors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7506653" y="3865245"/>
            <a:ext cx="609457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Weather, fuel prices, and macroeconomic indicators as model inputs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724" y="4332327"/>
            <a:ext cx="6477476" cy="76592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9176" y="5251371"/>
            <a:ext cx="2698909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Real-Time AIS Integration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1029176" y="5624870"/>
            <a:ext cx="609457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vessel stream data for operational forecasting pipelines</a:t>
            </a:r>
            <a:endParaRPr lang="en-US" sz="15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332327"/>
            <a:ext cx="6477476" cy="76592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06653" y="5251371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Ensemble Systems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7506653" y="5624870"/>
            <a:ext cx="609457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Hybrid pipelines combining statistical and ML model strengths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37724" y="6264235"/>
            <a:ext cx="12954952" cy="985837"/>
          </a:xfrm>
          <a:prstGeom prst="roundRect">
            <a:avLst>
              <a:gd name="adj" fmla="val 2914"/>
            </a:avLst>
          </a:prstGeom>
          <a:solidFill>
            <a:srgbClr val="49042A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176" y="6534150"/>
            <a:ext cx="239316" cy="19145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59944" y="6465213"/>
            <a:ext cx="12141279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Takeaway:</a:t>
            </a:r>
            <a:r>
              <a:rPr lang="en-US" sz="15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Hybrid forecasting pipelines that select models by port profile can significantly improve maritime decision-making under uncertain global trade conditions.</a:t>
            </a:r>
            <a:endParaRPr lang="en-US" sz="15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20317" y="7632147"/>
            <a:ext cx="1708986" cy="5144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936</Words>
  <Application>Microsoft Office PowerPoint</Application>
  <PresentationFormat>Custom</PresentationFormat>
  <Paragraphs>110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Lora</vt:lpstr>
      <vt:lpstr>Calibri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hp</cp:lastModifiedBy>
  <cp:revision>5</cp:revision>
  <dcterms:created xsi:type="dcterms:W3CDTF">2026-04-29T11:04:05Z</dcterms:created>
  <dcterms:modified xsi:type="dcterms:W3CDTF">2026-05-06T11:11:34Z</dcterms:modified>
</cp:coreProperties>
</file>