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85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11" Type="http://schemas.openxmlformats.org/officeDocument/2006/relationships/image" Target="../media/image5.png"/><Relationship Id="rId5" Type="http://schemas.openxmlformats.org/officeDocument/2006/relationships/image" Target="../media/image-3-4.svg"/><Relationship Id="rId10" Type="http://schemas.openxmlformats.org/officeDocument/2006/relationships/image" Target="../media/image-3-10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7.svg"/><Relationship Id="rId13" Type="http://schemas.openxmlformats.org/officeDocument/2006/relationships/image" Target="../media/image-8-13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4.sv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-8-10.sv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1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8021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Comparative Forecasting of Global Maritime Port Traffic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472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Classical and Advanced Time Series Models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099447"/>
            <a:ext cx="5161478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6" name="Text 3"/>
          <p:cNvSpPr/>
          <p:nvPr/>
        </p:nvSpPr>
        <p:spPr>
          <a:xfrm>
            <a:off x="981313" y="5171242"/>
            <a:ext cx="487430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SUSHMIT KAR · BENNETT UNIVERSITY, GREATER NOIDA, INDIA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85505"/>
            <a:ext cx="733186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Port Traffic Forecasting Matters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37724" y="1915478"/>
            <a:ext cx="7468553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seaports are critical nodes in international trade. Delays and poor planning cascade across logistics networks. Accurate short-term forecasting of vessel arrivals enables authorities to optimize operations and build supply chain resilience.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37724" y="2820948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1017151" y="300037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Berth Planning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17151" y="3345061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dock allocation and scheduling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7724" y="3910370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1017151" y="408979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Workforce &amp; Cranes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17151" y="4434483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labor and equipment to demand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7724" y="4999792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1017151" y="5179219"/>
            <a:ext cx="218955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Congestion Mitigation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17151" y="5523905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Preempt bottlenecks before they form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7724" y="6089213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1017151" y="6268641"/>
            <a:ext cx="233326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Supply Chain Resilience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17151" y="6613327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inland transport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51334"/>
            <a:ext cx="9295209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Forecasting Models Under Evaluation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37724" y="2252186"/>
            <a:ext cx="1295495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paradigms are benchmarked across </a:t>
            </a: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13 international ports</a:t>
            </a: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using daily vessel call data from 2019–2026.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37724" y="2849880"/>
            <a:ext cx="454819" cy="4548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ARIMA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37724" y="4038600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Classical autoregressive model; benchmark for linear, stationary series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46013" y="2849880"/>
            <a:ext cx="454819" cy="4548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6013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Holt-Winters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246013" y="4038600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Exponential smoothing for level, trend, and seasonal decomposition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654302" y="2849880"/>
            <a:ext cx="454819" cy="4548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9654302" y="4038600"/>
            <a:ext cx="4138374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Multivariate model capturing joint dependencies across regional port clusters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37724" y="5180052"/>
            <a:ext cx="454819" cy="4548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7724" y="5904905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Prophet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837724" y="6368772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Additive model with automatic trend shifts and multi-seasonality handling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246013" y="5180052"/>
            <a:ext cx="454819" cy="4548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46013" y="5904905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XGBoost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5246013" y="6368772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Gradient boosting with lag features, rolling means, and calendar effects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04984" y="7632147"/>
            <a:ext cx="1924319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2003"/>
            <a:ext cx="6913840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Exploratory Findings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57463"/>
            <a:ext cx="7009924" cy="3972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8579" y="1812607"/>
            <a:ext cx="303978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Ports Analyzed (2019–2026)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588579" y="2284690"/>
            <a:ext cx="4211598" cy="1204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Singapore, Shanghai, Rotterdam, Antwerp, Busan, Hong Kong, Ningbo, and Japanese industrial ports (Nagoya, Kobe, Yokohama, Chiba, Mizushima).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588579" y="3662005"/>
            <a:ext cx="273903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Exploratory Insights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88579" y="4134088"/>
            <a:ext cx="4211598" cy="32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Singapore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volume, relatively stable traffic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Shanghai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higher volatility with episodic declines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Rotterdam &amp; Antwerp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steady European patterns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weekly seasonality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several ports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Anomalies linked to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COVID-19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Suez blockage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Sea disruptions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984" y="7632147"/>
            <a:ext cx="1924319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443" y="397193"/>
            <a:ext cx="6572964" cy="41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Methodology: From Raw Data to Forecasts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91" y="983933"/>
            <a:ext cx="12408218" cy="6572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9670" y="5681104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Preprocessing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610836" y="6150885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Parse dates, handle missing values, align daily series, split train-test.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09757" y="1655688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410923" y="2125469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lag-1 and lag-7, rolling means, calendar and regional leader lags.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4022" y="1655688"/>
            <a:ext cx="2887290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Training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774022" y="2125469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Fit ARIMA, Holt-Winters, VAR, Prophet and XGBoost with stationarity checks.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933028" y="5681317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933028" y="6151098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RMSE and MAPE across ports to select best forecasts.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97443" y="7651075"/>
            <a:ext cx="13635514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Temporal order is strictly preserved in the train-test split. Stationarity checks guide ARIMA specification, while lag-based supervised features enable XGBoost to model nonlinear dependencies and disruption dynamics.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9060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92906"/>
            <a:ext cx="435292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Root Mean Squared Error (RMSE)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947749"/>
            <a:ext cx="6185535" cy="1028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47749"/>
            <a:ext cx="6185535" cy="1028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724" y="427922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Penalizes large prediction errors, making it sensitive to disruption-driven spikes in port traffic.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614761" y="2292906"/>
            <a:ext cx="52858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Absolute Percentage Error (MAPE)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14761" y="2947749"/>
            <a:ext cx="618553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761" y="2947749"/>
            <a:ext cx="6185535" cy="9544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4761" y="4205049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scale-independent comparison across ports with vastly different traffic volumes, from Singapore to smaller Japanese industrial hubs.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837724" y="5838706"/>
            <a:ext cx="12954952" cy="1400175"/>
          </a:xfrm>
          <a:prstGeom prst="roundRect">
            <a:avLst>
              <a:gd name="adj" fmla="val 2564"/>
            </a:avLst>
          </a:prstGeom>
          <a:solidFill>
            <a:srgbClr val="022349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039" y="6187440"/>
            <a:ext cx="299204" cy="2393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15559" y="6137791"/>
            <a:ext cx="119378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Both metrics are computed on a held-out test set, preserving temporal order to reflect real-world operational forecasting conditions.</a:t>
            </a:r>
            <a:endParaRPr lang="en-US" sz="18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637" y="414933"/>
            <a:ext cx="6945392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Comparative Results: No Universal Winner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5343" y="3490436"/>
            <a:ext cx="4098727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Selection Outperforms One-Size-Fits-All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505343" y="3803809"/>
            <a:ext cx="660904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Experiments confirm that no single model dominates across all ports. Port traffic dynamics differ substantially by geography and trade function.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505343" y="4276963"/>
            <a:ext cx="6609040" cy="110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Prophet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strong results across seasonal ports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superior on volatile Japanese industrial ports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ARIMA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competitive on smoother, stable series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Holt-Winters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reliable but less adaptive to abrupt shocks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justified for moderate regional dependencies</a:t>
            </a:r>
            <a:endParaRPr lang="en-US" sz="115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11543"/>
            <a:ext cx="41157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6324124" y="1520785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19" y="1676281"/>
            <a:ext cx="466725" cy="46672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07969" y="1804511"/>
            <a:ext cx="210026" cy="2100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79619" y="2244090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Berth Allocation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479619" y="2533412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Pre-schedule dock assignments based on predicted vessel arrivals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6324124" y="2995374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619" y="3150870"/>
            <a:ext cx="466725" cy="46672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07969" y="3279100"/>
            <a:ext cx="210026" cy="2100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79619" y="371867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Workforce Planning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6479619" y="4008001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cranes and labor aligned to forecasted demand peaks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324124" y="446996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9619" y="4625459"/>
            <a:ext cx="466725" cy="466725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07969" y="4753689"/>
            <a:ext cx="210026" cy="21002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79619" y="5193268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Yard Capacity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6479619" y="5482590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Pre-position containers and manage storage before surges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6324124" y="594455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9619" y="6100048"/>
            <a:ext cx="466725" cy="466725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07969" y="6228278"/>
            <a:ext cx="210026" cy="210026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479619" y="6667857"/>
            <a:ext cx="2162532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Disruption Early Warning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6479619" y="6957179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 anomalies during geopolitical or weather-driven events</a:t>
            </a:r>
            <a:endParaRPr lang="en-US" sz="12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90" y="563880"/>
            <a:ext cx="5012293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of This Study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41390" y="1471017"/>
            <a:ext cx="4381143" cy="1598057"/>
          </a:xfrm>
          <a:prstGeom prst="roundRect">
            <a:avLst>
              <a:gd name="adj" fmla="val 686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30" y="1471017"/>
            <a:ext cx="91440" cy="1598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067" y="1677114"/>
            <a:ext cx="2227064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Exogenous Drivers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6067" y="2086808"/>
            <a:ext cx="3900368" cy="77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Weather, fuel prices, and macroeconomic indicators were not incorporated as external regressors.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1390" y="3209330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3209330"/>
            <a:ext cx="91440" cy="1339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6067" y="3415427"/>
            <a:ext cx="290072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Geopolitical Unpredictability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16067" y="3825121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Sudden disruptions (e.g., Red Sea conflict) remain inherently difficult to forecast.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1390" y="4688919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4688919"/>
            <a:ext cx="91440" cy="13393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6067" y="4895017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Scope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16067" y="5304711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LSTM, GRU, and Transformer models were not extensively tuned in this study.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1390" y="6168509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6168509"/>
            <a:ext cx="91440" cy="13393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6067" y="6374606"/>
            <a:ext cx="2635687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Long-Horizon Forecasting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16067" y="6784300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Extended prediction windows and highly noisy operational ports were outside the present scope.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113" y="2075617"/>
            <a:ext cx="8519517" cy="48276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9527"/>
            <a:ext cx="659499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Future Directions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849160"/>
            <a:ext cx="1295495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study demonstrates that </a:t>
            </a: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model selection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not a universal strategy — is essential for accurate maritime port traffic forecasting. ARIMA, Prophet, and XGBoost each excel under distinct operational conditions.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72703"/>
            <a:ext cx="6477476" cy="765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9176" y="3491746"/>
            <a:ext cx="288262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Benchmarks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9176" y="3865245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LSTM, GRU, and Transformer architectures for temporal modeling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72703"/>
            <a:ext cx="6477476" cy="7659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6653" y="3491746"/>
            <a:ext cx="234791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Exogenous Regressors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06653" y="3865245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Weather, fuel prices, and macroeconomic indicators as model inputs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332327"/>
            <a:ext cx="6477476" cy="7659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9176" y="5251371"/>
            <a:ext cx="269890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AIS Integration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029176" y="5624870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vessel stream data for operational forecasting pipelines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332327"/>
            <a:ext cx="6477476" cy="7659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06653" y="525137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Ensemble Systems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506653" y="5624870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pipelines combining statistical and ML model strengths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37724" y="6264235"/>
            <a:ext cx="12954952" cy="985837"/>
          </a:xfrm>
          <a:prstGeom prst="roundRect">
            <a:avLst>
              <a:gd name="adj" fmla="val 2914"/>
            </a:avLst>
          </a:prstGeom>
          <a:solidFill>
            <a:srgbClr val="49042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76" y="6534150"/>
            <a:ext cx="239316" cy="19145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9944" y="6465213"/>
            <a:ext cx="1214127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Hybrid forecasting pipelines that select models by port profile can significantly improve maritime decision-making under uncertain global trade conditions.</a:t>
            </a: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Microsoft Office PowerPoint</Application>
  <PresentationFormat>Custom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Arial</vt:lpstr>
      <vt:lpstr>Source Sans 3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hp</cp:lastModifiedBy>
  <cp:revision>2</cp:revision>
  <dcterms:created xsi:type="dcterms:W3CDTF">2026-04-29T11:04:05Z</dcterms:created>
  <dcterms:modified xsi:type="dcterms:W3CDTF">2026-04-29T11:07:44Z</dcterms:modified>
</cp:coreProperties>
</file>